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展示个人核心信息及专业背景。姓名部分留空供填写，职业注明数据分析师且有8年行业经验。地理位置精确到海淀区，资质突出PMP认证显示项目管理能力。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该教育背景涵盖清华大学经管学院硕士学历，研究聚焦大数据商业应用。学术表现优异，GPA达到3.8位列前5%，显示出色的学习能力。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主导27项数据分析项目展现丰富实战经验，通过供应链模型实现显著成本优化。亲身培养6位分析师成为核心力量，连续三载获得创新奖项印证持续突破能力。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演示各能力维度的关键指标：1. Python/SQL的技术优势，2. 数据可视化与云端平台组合，3. 六省零售模型覆盖范围，4. 协作效能30%量化提升。通过工具专业化、系统整合力和业务深度实现综合竞争力构建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四大核心成就：客户画像系统提升留存率成效显著，科研成果获得学界认可，重大项目获行业权威奖项提名，内部人才培养计划覆盖超过400名员工。每个指标用具体数字强化说服力，突出专业能力和综合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3368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9562f42a-b350-4687-858a-04fdc76860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3368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3302000"/>
            <a:ext cx="67310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个人简介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43688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4724400"/>
            <a:ext cx="67310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6000"/>
              </a:lnSpc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姓名：[您的姓名]\n职业领域：</a:t>
            </a:r>
            <a:r>
              <a:rPr i="0" sz="1800" b="1">
                <a:solidFill>
                  <a:srgbClr val="4B5563"/>
                </a:solidFill>
                <a:latin typeface="Inter"/>
              </a:rPr>
              <a:t>数据分析师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（深耕8年行业经验）\n现任地点：北京市海淀区\n核心资质：</a:t>
            </a:r>
            <a:r>
              <a:rPr i="0" sz="1800" b="1">
                <a:solidFill>
                  <a:srgbClr val="4B5563"/>
                </a:solidFill>
                <a:latin typeface="Inter"/>
              </a:rPr>
              <a:t>PMP认证项目经理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609600"/>
            <a:ext cx="97790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教育背景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6000" y="1574800"/>
            <a:ext cx="12192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pic>
        <p:nvPicPr>
          <p:cNvPr id="4" name="Picture 3" descr="86f160b8-1e80-49be-939f-8acb663dde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0" y="609600"/>
            <a:ext cx="40640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6000" y="3454400"/>
            <a:ext cx="8763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0100" y="3556000"/>
            <a:ext cx="58801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3000"/>
              </a:lnSpc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毕业院校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0100" y="4114800"/>
            <a:ext cx="58801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63000"/>
              </a:lnSpc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清华大学 经济管理学院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1200" y="3454400"/>
            <a:ext cx="8763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85300" y="3556000"/>
            <a:ext cx="58801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3000"/>
              </a:lnSpc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学历学位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85300" y="4114800"/>
            <a:ext cx="58801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63000"/>
              </a:lnSpc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硕士研究生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851400"/>
            <a:ext cx="8763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0100" y="4953000"/>
            <a:ext cx="58801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3000"/>
              </a:lnSpc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研究方向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0100" y="5511800"/>
            <a:ext cx="58801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63000"/>
              </a:lnSpc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大数据与商业决策分析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1200" y="4851400"/>
            <a:ext cx="8763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5300" y="4953000"/>
            <a:ext cx="58801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3000"/>
              </a:lnSpc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学术表现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85300" y="5511800"/>
            <a:ext cx="58801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63000"/>
              </a:lnSpc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GPA 3.8/4.0（年级前5%）</a:t>
            </a:r>
          </a:p>
        </p:txBody>
      </p:sp>
      <p:pic>
        <p:nvPicPr>
          <p:cNvPr id="17" name="Picture 16" descr="519ee7af-6f03-423b-a605-c57e1bd8be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128000"/>
            <a:ext cx="16256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203200"/>
            <a:ext cx="18161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50000"/>
              </a:lnSpc>
              <a:defRPr i="0" sz="1600" b="1">
                <a:solidFill>
                  <a:srgbClr val="111827"/>
                </a:solidFill>
                <a:latin typeface="Inter"/>
              </a:defRPr>
            </a:pPr>
            <a:r>
              <a:rPr i="0" sz="1600" b="1">
                <a:solidFill>
                  <a:srgbClr val="111827"/>
                </a:solidFill>
                <a:latin typeface="Inter"/>
              </a:rPr>
              <a:t>Company Name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09900" y="342900"/>
            <a:ext cx="12230100" cy="25400"/>
          </a:xfrm>
          <a:prstGeom prst="roundRect">
            <a:avLst>
              <a:gd name="adj" fmla="val 200000"/>
            </a:avLst>
          </a:prstGeom>
          <a:solidFill>
            <a:srgbClr val="111827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pic>
        <p:nvPicPr>
          <p:cNvPr id="4" name="Picture 3" descr="af5586d1-ec73-4240-9d72-a60b36b5bf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" cy="9144000"/>
          </a:xfrm>
          <a:prstGeom prst="rect">
            <a:avLst/>
          </a:prstGeom>
        </p:spPr>
      </p:pic>
      <p:pic>
        <p:nvPicPr>
          <p:cNvPr id="5" name="Picture 4" descr="60027ce4-bc31-4984-862f-44e3dcff6a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518400"/>
            <a:ext cx="2438400" cy="1625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6000" y="609600"/>
            <a:ext cx="89662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defRPr i="0" sz="7200" b="1">
                <a:solidFill>
                  <a:srgbClr val="111827"/>
                </a:solidFill>
                <a:latin typeface="Inter"/>
              </a:defRPr>
            </a:pPr>
            <a:r>
              <a:rPr i="0" sz="7200" b="1">
                <a:solidFill>
                  <a:srgbClr val="111827"/>
                </a:solidFill>
                <a:latin typeface="Inter"/>
              </a:rPr>
              <a:t>职业里程碑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19200" y="43688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8" name="Picture 7" descr="4f474de7-e2e1-4faa-9020-fccd7bc047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52120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32000" y="4368800"/>
            <a:ext cx="3124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40000"/>
              </a:lnSpc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主导27个数据分析项目并落地实施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42000" y="43688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1" name="Picture 10" descr="f44dfac8-97a4-47fd-a971-e64b0390466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4400" y="4521200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54800" y="4368800"/>
            <a:ext cx="3124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40000"/>
              </a:lnSpc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供应链模型优化实现15%运营成本节约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19200" y="5689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4" name="Picture 13" descr="ec582fce-086f-436c-ab64-2422b1fdfbd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5842000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32000" y="5689600"/>
            <a:ext cx="3124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40000"/>
              </a:lnSpc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培养6名分析师成长为团队核心成员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42000" y="5689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" name="Picture 16" descr="ec582fce-086f-436c-ab64-2422b1fdfbd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4400" y="584200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54800" y="5689600"/>
            <a:ext cx="3124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40000"/>
              </a:lnSpc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连续三年斩获'最佳创新贡献奖'</a:t>
            </a:r>
          </a:p>
        </p:txBody>
      </p:sp>
      <p:pic>
        <p:nvPicPr>
          <p:cNvPr id="19" name="Picture 18" descr="6cb0524c-496e-4d61-9986-e984e94c1db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27200" y="1016000"/>
            <a:ext cx="406400" cy="406400"/>
          </a:xfrm>
          <a:prstGeom prst="rect">
            <a:avLst/>
          </a:prstGeom>
        </p:spPr>
      </p:pic>
      <p:pic>
        <p:nvPicPr>
          <p:cNvPr id="20" name="Picture 19" descr="9c27da02-fdde-4b93-921d-a3361d27697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9600" y="1422400"/>
            <a:ext cx="1016000" cy="2540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0363200" y="2641600"/>
            <a:ext cx="48768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b34eaf8a-df17-43e7-a06f-961b0b841e0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63200" y="2641600"/>
            <a:ext cx="48768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609600"/>
            <a:ext cx="142494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技能矩阵</a:t>
            </a:r>
          </a:p>
        </p:txBody>
      </p:sp>
      <p:pic>
        <p:nvPicPr>
          <p:cNvPr id="3" name="Picture 2" descr="67eca52f-ee52-4355-aa2a-d337e3cf7c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778000"/>
            <a:ext cx="6705600" cy="6959600"/>
          </a:xfrm>
          <a:prstGeom prst="rect">
            <a:avLst/>
          </a:prstGeom>
        </p:spPr>
      </p:pic>
      <p:pic>
        <p:nvPicPr>
          <p:cNvPr id="4" name="Picture 3" descr="bae73b3e-2715-4e2d-ad91-5e17c17de2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27940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34400" y="2476500"/>
            <a:ext cx="6731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63000"/>
              </a:lnSpc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专业能力结构化展示：涵盖数据分析工具、平台系统应用、行业模型覆盖及团队协作效能提升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4400" y="32639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9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7" name="Picture 6" descr="c7cfbe67-727a-43f7-9846-d174a37e39f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3416300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47200" y="3263900"/>
            <a:ext cx="5918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40000"/>
              </a:lnSpc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数据分析工具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47200" y="37211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47200" y="3898900"/>
            <a:ext cx="59182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63000"/>
              </a:lnSpc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Python (9/10)与SQL精通级实现高效数据建模及查询优化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34400" y="45339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9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2" name="Picture 11" descr="cf8e3b88-3443-48df-8c86-fa06a7cf5e3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4686300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47200" y="4533900"/>
            <a:ext cx="5918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40000"/>
              </a:lnSpc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平台系统能力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47200" y="49911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47200" y="5168900"/>
            <a:ext cx="59182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63000"/>
              </a:lnSpc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Power BI/Tableau可视化构建，AWS云环境部署实践经验丰富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34400" y="58039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9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" name="Picture 16" descr="c7cfbe67-727a-43f7-9846-d174a37e39f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595630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47200" y="5803900"/>
            <a:ext cx="5918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40000"/>
              </a:lnSpc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行业知识覆盖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7200" y="62611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200" y="6438900"/>
            <a:ext cx="59182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63000"/>
              </a:lnSpc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零售业模型贯穿6省全域数据驱动业务决策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34400" y="70739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9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d062baa5-74dc-4410-ab6d-2f3e129dc1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0" y="7226300"/>
            <a:ext cx="304800" cy="30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47200" y="7073900"/>
            <a:ext cx="5918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40000"/>
              </a:lnSpc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协作效能提升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47200" y="75311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7200" y="7708900"/>
            <a:ext cx="59182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63000"/>
              </a:lnSpc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跨部门流程标准化使工作效率显著提高30%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24000" y="3225800"/>
            <a:ext cx="56896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7" name="Picture 26" descr="fdc9b1fa-4421-48f6-ace3-45270d2da83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0" y="3225800"/>
            <a:ext cx="56896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7705a1ba-ad5c-4fdc-9291-55116c2426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251200" cy="9144000"/>
          </a:xfrm>
          <a:prstGeom prst="rect">
            <a:avLst/>
          </a:prstGeom>
        </p:spPr>
      </p:pic>
      <p:pic>
        <p:nvPicPr>
          <p:cNvPr id="3" name="Picture 2" descr="7705a1ba-ad5c-4fdc-9291-55116c2426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4800" y="0"/>
            <a:ext cx="3251200" cy="914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2362200"/>
            <a:ext cx="142494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成就亮点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0800" y="4597400"/>
            <a:ext cx="2667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43000"/>
              </a:lnSpc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用户留存率提升28%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0800" y="5054600"/>
            <a:ext cx="2641600" cy="762000"/>
          </a:xfrm>
          <a:prstGeom prst="roundRect">
            <a:avLst>
              <a:gd name="adj" fmla="val 13333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4800" y="5308600"/>
            <a:ext cx="2159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43000"/>
              </a:lnSpc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通过建立精准客户画像系统实现运营效率跃升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0" y="4597400"/>
            <a:ext cx="2451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43000"/>
              </a:lnSpc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3篇SCI论文（IF＞15.6）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0000" y="5054600"/>
            <a:ext cx="2425700" cy="762000"/>
          </a:xfrm>
          <a:prstGeom prst="roundRect">
            <a:avLst>
              <a:gd name="adj" fmla="val 13333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4000" y="5308600"/>
            <a:ext cx="1943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43000"/>
              </a:lnSpc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在顶级期刊发表跨学科数据分析研究成果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1200" y="3733800"/>
            <a:ext cx="3276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43000"/>
              </a:lnSpc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千万级数据仓库项目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1200" y="4191000"/>
            <a:ext cx="32766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defRPr i="0" sz="6000" b="1">
                <a:solidFill>
                  <a:srgbClr val="9333EA"/>
                </a:solidFill>
                <a:latin typeface="Inter"/>
              </a:defRPr>
            </a:pPr>
            <a:r>
              <a:rPr i="0" sz="6000" b="1">
                <a:solidFill>
                  <a:srgbClr val="9333EA"/>
                </a:solidFill>
                <a:latin typeface="Inter"/>
              </a:rPr>
              <a:t>「中国数据分析应用奖」提名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1200" y="5918200"/>
            <a:ext cx="3251200" cy="762000"/>
          </a:xfrm>
          <a:prstGeom prst="roundRect">
            <a:avLst>
              <a:gd name="adj" fmla="val 13333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85200" y="6172200"/>
            <a:ext cx="2768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43000"/>
              </a:lnSpc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主导的大型项目获国家级专业奖项认可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47600" y="4597400"/>
            <a:ext cx="21463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43000"/>
              </a:lnSpc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企业内训覆盖400+人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547600" y="5054600"/>
            <a:ext cx="2120900" cy="762000"/>
          </a:xfrm>
          <a:prstGeom prst="roundRect">
            <a:avLst>
              <a:gd name="adj" fmla="val 13333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0" y="5308600"/>
            <a:ext cx="16383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43000"/>
              </a:lnSpc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年均开展12场数据实战课程培训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