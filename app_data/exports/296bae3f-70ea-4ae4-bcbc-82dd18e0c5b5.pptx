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介绍我的专业身份：在NLP和CV领域深耕五年，主导过12个企业项目。强调技术能力（PyTorch/Keras框架）及突出成果（模型准确率提升40%）。最后请观众参考简历第三页案例，并提供联系方式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17600" y="2641600"/>
            <a:ext cx="6502400" cy="40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90500" dir="90000" dist="127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" name="Picture 2" descr="4a28789e-eec8-41a1-a859-01afc992fb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" y="2641600"/>
            <a:ext cx="6502400" cy="406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34400" y="1739900"/>
            <a:ext cx="6731000" cy="7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张伟 | 人工智能工程师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34400" y="2806700"/>
            <a:ext cx="1016000" cy="50800"/>
          </a:xfrm>
          <a:prstGeom prst="roundRect">
            <a:avLst>
              <a:gd name="adj" fmla="val 1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400" y="3162300"/>
            <a:ext cx="6731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1">
                <a:solidFill>
                  <a:srgbClr val="4B5563"/>
                </a:solidFill>
                <a:latin typeface="Inter"/>
              </a:rPr>
              <a:t>领域</a:t>
            </a:r>
            <a:r>
              <a:rPr i="0" sz="1800" b="0">
                <a:solidFill>
                  <a:srgbClr val="4B5563"/>
                </a:solidFill>
                <a:latin typeface="Inter"/>
              </a:rPr>
              <a:t>：自然语言处理/计算机视觉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400" y="3517900"/>
            <a:ext cx="6731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1">
                <a:solidFill>
                  <a:srgbClr val="4B5563"/>
                </a:solidFill>
                <a:latin typeface="Inter"/>
              </a:rPr>
              <a:t>核心经验</a:t>
            </a:r>
            <a:r>
              <a:rPr i="0" sz="1800" b="0">
                <a:solidFill>
                  <a:srgbClr val="4B5563"/>
                </a:solidFill>
                <a:latin typeface="Inter"/>
              </a:rPr>
              <a:t>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400" y="3873500"/>
            <a:ext cx="6731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0">
                <a:solidFill>
                  <a:srgbClr val="4B5563"/>
                </a:solidFill>
                <a:latin typeface="Inter"/>
              </a:rPr>
              <a:t>五年算法开发经验 | 主导12个企业级AI项目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400" y="4229100"/>
            <a:ext cx="6731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1">
                <a:solidFill>
                  <a:srgbClr val="4B5563"/>
                </a:solidFill>
                <a:latin typeface="Inter"/>
              </a:rPr>
              <a:t>机器学习模型准确率提升40%</a:t>
            </a:r>
            <a:r>
              <a:rPr i="0" sz="1800" b="0">
                <a:solidFill>
                  <a:srgbClr val="4B5563"/>
                </a:solidFill>
                <a:latin typeface="Inter"/>
              </a:rPr>
              <a:t>（案例见简历P3）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34400" y="4584700"/>
            <a:ext cx="6731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1">
                <a:solidFill>
                  <a:srgbClr val="4B5563"/>
                </a:solidFill>
                <a:latin typeface="Inter"/>
              </a:rPr>
              <a:t>技术栈</a:t>
            </a:r>
            <a:r>
              <a:rPr i="0" sz="1800" b="0">
                <a:solidFill>
                  <a:srgbClr val="4B5563"/>
                </a:solidFill>
                <a:latin typeface="Inter"/>
              </a:rPr>
              <a:t>：PyTorch/Keras深度框架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34400" y="4940300"/>
            <a:ext cx="6731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1">
                <a:solidFill>
                  <a:srgbClr val="4B5563"/>
                </a:solidFill>
                <a:latin typeface="Inter"/>
              </a:rPr>
              <a:t>联系方式</a:t>
            </a:r>
            <a:r>
              <a:rPr i="0" sz="1800" b="0">
                <a:solidFill>
                  <a:srgbClr val="4B5563"/>
                </a:solidFill>
                <a:latin typeface="Inter"/>
              </a:rPr>
              <a:t>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400" y="5295900"/>
            <a:ext cx="6731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0">
                <a:solidFill>
                  <a:srgbClr val="4B5563"/>
                </a:solidFill>
                <a:latin typeface="Inter"/>
              </a:rPr>
              <a:t>邮箱 zhangwei.ai@example.com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4400" y="5651500"/>
            <a:ext cx="6731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0">
                <a:solidFill>
                  <a:srgbClr val="4B5563"/>
                </a:solidFill>
                <a:latin typeface="Inter"/>
              </a:rPr>
              <a:t>GitHub github.com/zhangwei-ai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34400" y="6311900"/>
            <a:ext cx="6705600" cy="1295400"/>
          </a:xfrm>
          <a:prstGeom prst="roundRect">
            <a:avLst>
              <a:gd name="adj" fmla="val 7843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E5E7EB"/>
            </a:solidFill>
          </a:ln>
          <a:effectLst>
            <a:outerShdw blurRad="25400" dir="90000" dist="127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851900" y="66548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3200" y="6807200"/>
            <a:ext cx="1524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1">
                <a:solidFill>
                  <a:srgbClr val="FFFFFF"/>
                </a:solidFill>
                <a:latin typeface="Inter"/>
              </a:defRPr>
            </a:pPr>
            <a:r>
              <a:rPr i="0" sz="1600" b="1">
                <a:solidFill>
                  <a:srgbClr val="FFFFFF"/>
                </a:solidFill>
                <a:latin typeface="Inter"/>
              </a:rPr>
              <a:t>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4700" y="6629400"/>
            <a:ext cx="12065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张伟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64700" y="6985000"/>
            <a:ext cx="1206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2025-12-15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