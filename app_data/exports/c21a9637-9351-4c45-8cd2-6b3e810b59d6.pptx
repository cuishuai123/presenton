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更换为现代商务背景设计，提升页面专业性同时保持信息聚焦。仍展示个人信息核心要素（姓名、年龄、现居地及联系方式），确保视觉与内容平衡。右下角保留单位名称和标准日期格式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展示核心教育信息：学位与专业名称、毕业院校全称、完整在校时间区间，以及标准化GPA值或相对排名数据（若适用）。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介绍三大核心能力模块：</a:t>
            </a:r>
          </a:p>
          <a:p>
            <a:r>
              <a:t>- 技术栈与方法论掌握程度</a:t>
            </a:r>
          </a:p>
          <a:p>
            <a:r>
              <a:t>- 国际认证持有情况(带证书编号)</a:t>
            </a:r>
          </a:p>
          <a:p>
            <a:r>
              <a:t>- 多地区工作协作实践经验</a:t>
            </a:r>
          </a:p>
          <a:p>
            <a:r>
              <a:t>最后提及诺姆四象限作为展示方案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本页展示XX项目核心成就：以标准化管理整合AI技术，团队通过流程优化在预算内超额完成目标，不仅实现超预期的成本节约（35% vs行业平均17%），更比合同规定时间提前40天交付。对比行业数据表明成果领先同业标准达25个百分点以上，证明创新策略的有效性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请重点阐述1年期XX计划实施效果评估机制。2030战略需强调技术自主可控性。合作领域突出碳中和标准制定合作机会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a184a3d-fa44-48b3-a652-e038871200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26100" y="3543300"/>
            <a:ext cx="50292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Personal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基本信息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79500" y="7226300"/>
            <a:ext cx="16891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2025-12-11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79500" y="7874000"/>
            <a:ext cx="16891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[单位/部门]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d17118c-5816-47e6-b1bf-c0717b6c98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69000" y="3543300"/>
            <a:ext cx="43561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项目名称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77900" y="7226300"/>
            <a:ext cx="17907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20XX年XX月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77900" y="7874000"/>
            <a:ext cx="17907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XXXXXX院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5ea74937-02ff-48be-bc4a-346551b16d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7600" y="34163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一、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4500" y="3416300"/>
            <a:ext cx="32639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最高学历：XX学位 | [专业名称]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1402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二、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4500" y="4140200"/>
            <a:ext cx="2832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毕业院校：[学校及院系全称]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48768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三、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4500" y="4876800"/>
            <a:ext cx="38735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在校时间 20XX.09-20XX.06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7600" y="56134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四、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4500" y="5613400"/>
            <a:ext cx="45085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学术表现 GPA 3.8/4.0 或Top10%▲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5ea74937-02ff-48be-bc4a-346551b16d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85000" y="166370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0066B3"/>
          </a:solidFill>
          <a:ln>
            <a:noFill/>
          </a:ln>
          <a:effectLst>
            <a:outerShdw blurRad="406400" dir="90000" dist="1524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23200" y="2298700"/>
            <a:ext cx="635000" cy="10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8000" b="1">
                <a:solidFill>
                  <a:srgbClr val="FFFFFF"/>
                </a:solidFill>
                <a:latin typeface="Albert Sans"/>
              </a:defRPr>
            </a:pPr>
            <a:r>
              <a:rPr i="0" sz="8000" b="1">
                <a:solidFill>
                  <a:srgbClr val="FFFFFF"/>
                </a:solidFill>
                <a:latin typeface="Albert Sans"/>
              </a:rPr>
              <a:t>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6800" y="4457700"/>
            <a:ext cx="39878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5200" b="1">
                <a:solidFill>
                  <a:srgbClr val="111827"/>
                </a:solidFill>
                <a:latin typeface="Albert Sans"/>
              </a:defRPr>
            </a:pPr>
            <a:r>
              <a:rPr i="0" sz="5200" b="1">
                <a:solidFill>
                  <a:srgbClr val="111827"/>
                </a:solidFill>
                <a:latin typeface="Albert Sans"/>
              </a:rPr>
              <a:t>专业能力与全球化经验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5956300"/>
            <a:ext cx="14630400" cy="12700"/>
          </a:xfrm>
          <a:prstGeom prst="roundRect">
            <a:avLst>
              <a:gd name="adj" fmla="val 400000"/>
            </a:avLst>
          </a:prstGeom>
          <a:noFill/>
          <a:ln w="12700">
            <a:solidFill>
              <a:srgbClr val="000000">
                <a:alpha val="40000"/>
              </a:srgbClr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11176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关键成果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0" y="12192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500" y="14351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1900" y="15367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2098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主导XX项目总预算达XXX万美元，整合资源建立标准化管理框架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29718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5500" y="31877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32893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目标设定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39624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制定在X周期内完成效率指标提升20%的核心任务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" y="47244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500" y="49403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1900" y="50419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执行方案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57150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部署AI优化系统并组建跨部门5人攻坚团队实现技术整合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64897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500" y="67056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1900" y="68072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成果效益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" y="74803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成本节约35%超越原目标15个百分点，项目提前40天完成交付周期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" y="82423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500" y="84582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1900" y="85598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行业对比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00" y="91440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与同行业基准相比时间效率提升25%，成本控制指标位列前五分之一行列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71200" y="12192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5" name="Picture 24" descr="c5c242d7-1fbe-453f-b7fe-692668372c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0" y="1219200"/>
            <a:ext cx="4876800" cy="10541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0871200" y="24765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7" name="Picture 26" descr="e823b806-57ce-49be-ae28-509b6a76ff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1200" y="2476500"/>
            <a:ext cx="4876800" cy="10541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871200" y="373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9" name="Picture 28" descr="325b9aae-f52f-4432-b9b9-58c0d4b1e6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1200" y="3733800"/>
            <a:ext cx="4876800" cy="10541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871200" y="500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71200" y="62611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2" name="Picture 31" descr="425532bf-c1d3-4031-a155-c79339a940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18400"/>
            <a:ext cx="16256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4470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未来发展规划 | 2030战略布局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5062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Albert Sans"/>
              </a:defRPr>
            </a:pPr>
            <a:r>
              <a:rPr i="0" sz="2000" b="1">
                <a:solidFill>
                  <a:srgbClr val="111827"/>
                </a:solidFill>
                <a:latin typeface="Albert Sans"/>
              </a:rPr>
              <a:t>战略执行路径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600200"/>
            <a:ext cx="15036800" cy="3556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381000" dir="90000" dist="1524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600200"/>
            <a:ext cx="7518400" cy="3556000"/>
          </a:xfrm>
          <a:prstGeom prst="roundRect">
            <a:avLst>
              <a:gd name="adj" fmla="val 8571"/>
            </a:avLst>
          </a:prstGeom>
          <a:solidFill>
            <a:srgbClr val="3366C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600" y="2311400"/>
            <a:ext cx="6527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FFFFFF"/>
                </a:solidFill>
                <a:latin typeface="Albert Sans"/>
              </a:defRPr>
            </a:pPr>
            <a:r>
              <a:rPr i="0" sz="2400" b="1">
                <a:solidFill>
                  <a:srgbClr val="FFFFFF"/>
                </a:solidFill>
                <a:latin typeface="Albert Sans"/>
              </a:rPr>
              <a:t>平台基座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9210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统一数据中台、模型管理、向量检索、权限与审计框架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33147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采用云原生微服务 + K8s 部署，确保弹性伸缩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37211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这里是模板文字，这里是模板文字，这里是模板文字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41275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这里是模板文字，这里是模板文字，这里是模板文字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0" y="1600200"/>
            <a:ext cx="7518400" cy="355600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6000" y="2552700"/>
            <a:ext cx="65278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CC3333"/>
                </a:solidFill>
                <a:latin typeface="Albert Sans"/>
              </a:defRPr>
            </a:pPr>
            <a:r>
              <a:rPr i="0" sz="2000" b="1">
                <a:solidFill>
                  <a:srgbClr val="CC3333"/>
                </a:solidFill>
                <a:latin typeface="Albert Sans"/>
              </a:rPr>
              <a:t>关键里程碑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0" y="30861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信息门户（首页宣传页、更新日志、下载中心）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34798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大模型对话页面（模型/知识库切换、深度思考模式）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0" y="38862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智能体中心（预置 AI 写作、报告生成、模型生成等）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308600"/>
            <a:ext cx="15062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Albert Sans"/>
              </a:defRPr>
            </a:pPr>
            <a:r>
              <a:rPr i="0" sz="2000" b="1">
                <a:solidFill>
                  <a:srgbClr val="111827"/>
                </a:solidFill>
                <a:latin typeface="Albert Sans"/>
              </a:rPr>
              <a:t>合作与推广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5740400"/>
            <a:ext cx="14655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寻求全球合作伙伴共同推进[智慧能源]领域创新，二维码入口嵌入于最后一张幻灯片底部.</a:t>
            </a:r>
          </a:p>
        </p:txBody>
      </p:sp>
      <p:pic>
        <p:nvPicPr>
          <p:cNvPr id="19" name="Picture 18" descr="8f1234f8-9bac-4e9d-975e-a218f36113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2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