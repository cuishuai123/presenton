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6256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展示个人核心信息及专业背景。姓名部分留空供填写，职业注明数据分析师且有8年行业经验。地理位置精确到海淀区，资质突出PMP认证显示项目管理能力。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该教育背景涵盖清华大学经管学院硕士学历，研究聚焦大数据商业应用。学术表现优异，GPA达到3.8位列前5%，显示出色的学习能力。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主导27项数据分析项目展现丰富实战经验，通过供应链模型实现显著成本优化。亲身培养6位分析师成为核心力量，连续三载获得创新奖项印证持续突破能力。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演示各能力维度的关键指标：1. Python/SQL的技术优势，2. 数据可视化与云端平台组合，3. 六省零售模型覆盖范围，4. 协作效能30%量化提升。通过工具专业化、系统整合力和业务深度实现综合竞争力构建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展示四大核心成就：客户画像系统提升留存率成效显著，科研成果获得学界认可，重大项目获行业权威奖项提名，内部人才培养计划覆盖超过400名员工。每个指标用具体数字强化说服力，突出专业能力和综合贡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117600" y="2336800"/>
            <a:ext cx="6502400" cy="406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90500" dir="90000" dist="127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34400" y="3302000"/>
            <a:ext cx="6731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6000" b="1">
                <a:solidFill>
                  <a:srgbClr val="111827"/>
                </a:solidFill>
                <a:latin typeface="Inter"/>
              </a:defRPr>
            </a:pPr>
            <a:r>
              <a:rPr i="0" sz="6000" b="1">
                <a:solidFill>
                  <a:srgbClr val="111827"/>
                </a:solidFill>
                <a:latin typeface="Inter"/>
              </a:rPr>
              <a:t>**个人简介**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534400" y="4368800"/>
            <a:ext cx="1016000" cy="50800"/>
          </a:xfrm>
          <a:prstGeom prst="roundRect">
            <a:avLst>
              <a:gd name="adj" fmla="val 1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34400" y="4724400"/>
            <a:ext cx="6731000" cy="711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0">
                <a:solidFill>
                  <a:srgbClr val="4B5563"/>
                </a:solidFill>
                <a:latin typeface="Inter"/>
              </a:rPr>
              <a:t>姓名：[您的姓名]\n职业领域：**数据分析师**（深耕8年行业经验）\n现任地点：北京市海淀区\n核心资质：**PMP认证项目经理**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609600"/>
            <a:ext cx="9779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6000" b="1">
                <a:solidFill>
                  <a:srgbClr val="111827"/>
                </a:solidFill>
                <a:latin typeface="Inter"/>
              </a:defRPr>
            </a:pPr>
            <a:r>
              <a:rPr i="0" sz="6000" b="1">
                <a:solidFill>
                  <a:srgbClr val="111827"/>
                </a:solidFill>
                <a:latin typeface="Inter"/>
              </a:rPr>
              <a:t>教育背景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6000" y="1574800"/>
            <a:ext cx="1219200" cy="50800"/>
          </a:xfrm>
          <a:prstGeom prst="roundRect">
            <a:avLst>
              <a:gd name="adj" fmla="val 1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16000" y="3454400"/>
            <a:ext cx="8763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4800" b="1">
                <a:solidFill>
                  <a:srgbClr val="111827"/>
                </a:solidFill>
                <a:latin typeface="Inter"/>
              </a:defRPr>
            </a:pPr>
            <a:r>
              <a:rPr i="0" sz="4800" b="1">
                <a:solidFill>
                  <a:srgbClr val="111827"/>
                </a:solidFill>
                <a:latin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70100" y="3556000"/>
            <a:ext cx="5880100" cy="40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400" b="1">
                <a:solidFill>
                  <a:srgbClr val="111827"/>
                </a:solidFill>
                <a:latin typeface="Inter"/>
              </a:defRPr>
            </a:pPr>
            <a:r>
              <a:rPr i="0" sz="2400" b="1">
                <a:solidFill>
                  <a:srgbClr val="111827"/>
                </a:solidFill>
                <a:latin typeface="Inter"/>
              </a:rPr>
              <a:t>毕业院校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70100" y="4114800"/>
            <a:ext cx="58801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清华大学 经济管理学院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31200" y="3454400"/>
            <a:ext cx="8763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4800" b="1">
                <a:solidFill>
                  <a:srgbClr val="111827"/>
                </a:solidFill>
                <a:latin typeface="Inter"/>
              </a:defRPr>
            </a:pPr>
            <a:r>
              <a:rPr i="0" sz="4800" b="1">
                <a:solidFill>
                  <a:srgbClr val="111827"/>
                </a:solidFill>
                <a:latin typeface="Inter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85300" y="3556000"/>
            <a:ext cx="5880100" cy="40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400" b="1">
                <a:solidFill>
                  <a:srgbClr val="111827"/>
                </a:solidFill>
                <a:latin typeface="Inter"/>
              </a:defRPr>
            </a:pPr>
            <a:r>
              <a:rPr i="0" sz="2400" b="1">
                <a:solidFill>
                  <a:srgbClr val="111827"/>
                </a:solidFill>
                <a:latin typeface="Inter"/>
              </a:rPr>
              <a:t>学历学位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85300" y="4114800"/>
            <a:ext cx="58801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硕士研究生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6000" y="4851400"/>
            <a:ext cx="8763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4800" b="1">
                <a:solidFill>
                  <a:srgbClr val="111827"/>
                </a:solidFill>
                <a:latin typeface="Inter"/>
              </a:defRPr>
            </a:pPr>
            <a:r>
              <a:rPr i="0" sz="4800" b="1">
                <a:solidFill>
                  <a:srgbClr val="111827"/>
                </a:solidFill>
                <a:latin typeface="Inter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70100" y="4953000"/>
            <a:ext cx="5880100" cy="40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400" b="1">
                <a:solidFill>
                  <a:srgbClr val="111827"/>
                </a:solidFill>
                <a:latin typeface="Inter"/>
              </a:defRPr>
            </a:pPr>
            <a:r>
              <a:rPr i="0" sz="2400" b="1">
                <a:solidFill>
                  <a:srgbClr val="111827"/>
                </a:solidFill>
                <a:latin typeface="Inter"/>
              </a:rPr>
              <a:t>研究方向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70100" y="5511800"/>
            <a:ext cx="58801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大数据与商业决策分析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1200" y="4851400"/>
            <a:ext cx="8763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4800" b="1">
                <a:solidFill>
                  <a:srgbClr val="111827"/>
                </a:solidFill>
                <a:latin typeface="Inter"/>
              </a:defRPr>
            </a:pPr>
            <a:r>
              <a:rPr i="0" sz="4800" b="1">
                <a:solidFill>
                  <a:srgbClr val="111827"/>
                </a:solidFill>
                <a:latin typeface="Inter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85300" y="4953000"/>
            <a:ext cx="5880100" cy="406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400" b="1">
                <a:solidFill>
                  <a:srgbClr val="111827"/>
                </a:solidFill>
                <a:latin typeface="Inter"/>
              </a:defRPr>
            </a:pPr>
            <a:r>
              <a:rPr i="0" sz="2400" b="1">
                <a:solidFill>
                  <a:srgbClr val="111827"/>
                </a:solidFill>
                <a:latin typeface="Inter"/>
              </a:rPr>
              <a:t>学术表现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85300" y="5511800"/>
            <a:ext cx="58801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GPA 3.8/4.0（年级前5%）</a:t>
            </a:r>
          </a:p>
        </p:txBody>
      </p:sp>
      <p:pic>
        <p:nvPicPr>
          <p:cNvPr id="16" name="Picture 15" descr="f7c266ed-20e3-4707-943a-d2edcd65f4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128000"/>
            <a:ext cx="1625600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203200"/>
            <a:ext cx="1816100" cy="30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600" b="1">
                <a:solidFill>
                  <a:srgbClr val="111827"/>
                </a:solidFill>
                <a:latin typeface="Inter"/>
              </a:defRPr>
            </a:pPr>
            <a:r>
              <a:rPr i="0" sz="1600" b="1">
                <a:solidFill>
                  <a:srgbClr val="111827"/>
                </a:solidFill>
                <a:latin typeface="Inter"/>
              </a:rPr>
              <a:t>Company Name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009900" y="342900"/>
            <a:ext cx="12230100" cy="25400"/>
          </a:xfrm>
          <a:prstGeom prst="roundRect">
            <a:avLst>
              <a:gd name="adj" fmla="val 200000"/>
            </a:avLst>
          </a:prstGeom>
          <a:solidFill>
            <a:srgbClr val="111827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4" name="Picture 3" descr="28e63a41-9a2f-468b-b141-7d163326ede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" cy="9144000"/>
          </a:xfrm>
          <a:prstGeom prst="rect">
            <a:avLst/>
          </a:prstGeom>
        </p:spPr>
      </p:pic>
      <p:pic>
        <p:nvPicPr>
          <p:cNvPr id="5" name="Picture 4" descr="07360382-73f8-470b-ae3e-736b7650f13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518400"/>
            <a:ext cx="2438400" cy="1625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16000" y="609600"/>
            <a:ext cx="8966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7200" b="1">
                <a:solidFill>
                  <a:srgbClr val="111827"/>
                </a:solidFill>
                <a:latin typeface="Inter"/>
              </a:defRPr>
            </a:pPr>
            <a:r>
              <a:rPr i="0" sz="7200" b="1">
                <a:solidFill>
                  <a:srgbClr val="111827"/>
                </a:solidFill>
                <a:latin typeface="Inter"/>
              </a:rPr>
              <a:t>职业里程碑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19200" y="39116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8" name="Picture 7" descr="764ac409-cbdf-431f-9589-d2cf0708818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4521200"/>
            <a:ext cx="304800" cy="30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032000" y="4368800"/>
            <a:ext cx="31242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主导27个数据分析项目并落地实施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42000" y="43688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1" name="Picture 10" descr="764ac409-cbdf-431f-9589-d2cf0708818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4400" y="4521200"/>
            <a:ext cx="304800" cy="30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54800" y="4368800"/>
            <a:ext cx="31242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供应链模型优化实现15%运营成本节约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19200" y="56896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4" name="Picture 13" descr="764ac409-cbdf-431f-9589-d2cf0708818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5842000"/>
            <a:ext cx="304800" cy="304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032000" y="5689600"/>
            <a:ext cx="31242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培养6名分析师成长为团队核心成员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42000" y="5689600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7" name="Picture 16" descr="764ac409-cbdf-431f-9589-d2cf0708818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4400" y="5842000"/>
            <a:ext cx="304800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654800" y="5689600"/>
            <a:ext cx="31242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连续三年斩获'最佳创新贡献奖'</a:t>
            </a:r>
          </a:p>
        </p:txBody>
      </p:sp>
      <p:pic>
        <p:nvPicPr>
          <p:cNvPr id="19" name="Picture 18" descr="1e2ceaf8-0650-4ca1-8071-ca5bf186c8a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27200" y="1016000"/>
            <a:ext cx="406400" cy="406400"/>
          </a:xfrm>
          <a:prstGeom prst="rect">
            <a:avLst/>
          </a:prstGeom>
        </p:spPr>
      </p:pic>
      <p:pic>
        <p:nvPicPr>
          <p:cNvPr id="20" name="Picture 19" descr="a1fb9b41-471a-4299-accb-fb14007cc76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69600" y="1422400"/>
            <a:ext cx="1016000" cy="25400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10363200" y="2641600"/>
            <a:ext cx="4876800" cy="406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90500" dir="90000" dist="127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6000" y="609600"/>
            <a:ext cx="142494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70000"/>
              </a:lnSpc>
              <a:defRPr i="0" sz="6000" b="1">
                <a:solidFill>
                  <a:srgbClr val="111827"/>
                </a:solidFill>
                <a:latin typeface="Inter"/>
              </a:defRPr>
            </a:pPr>
            <a:r>
              <a:rPr i="0" sz="6000" b="1">
                <a:solidFill>
                  <a:srgbClr val="111827"/>
                </a:solidFill>
                <a:latin typeface="Inter"/>
              </a:rPr>
              <a:t>技能矩阵</a:t>
            </a:r>
          </a:p>
        </p:txBody>
      </p:sp>
      <p:pic>
        <p:nvPicPr>
          <p:cNvPr id="3" name="Picture 2" descr="e04286dd-1a75-46e7-826e-8b9eb7c4185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1778000"/>
            <a:ext cx="6705600" cy="6959600"/>
          </a:xfrm>
          <a:prstGeom prst="rect">
            <a:avLst/>
          </a:prstGeom>
        </p:spPr>
      </p:pic>
      <p:pic>
        <p:nvPicPr>
          <p:cNvPr id="4" name="Picture 3" descr="7c929a14-d570-4092-8743-f11626f001a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0400" y="2794000"/>
            <a:ext cx="304800" cy="30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34400" y="2476500"/>
            <a:ext cx="6731000" cy="3683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800" b="0">
                <a:solidFill>
                  <a:srgbClr val="4B5563"/>
                </a:solidFill>
                <a:latin typeface="Inter"/>
              </a:defRPr>
            </a:pPr>
            <a:r>
              <a:rPr i="0" sz="1800" b="0">
                <a:solidFill>
                  <a:srgbClr val="4B5563"/>
                </a:solidFill>
                <a:latin typeface="Inter"/>
              </a:rPr>
              <a:t>专业能力结构化展示：涵盖数据分析工具、平台系统应用、行业模型覆盖及团队协作效能提升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34400" y="3263900"/>
            <a:ext cx="609600" cy="609600"/>
          </a:xfrm>
          <a:prstGeom prst="roundRect">
            <a:avLst>
              <a:gd name="adj" fmla="val 16666"/>
            </a:avLst>
          </a:prstGeom>
          <a:solidFill>
            <a:srgbClr val="9333EA"/>
          </a:solidFill>
          <a:ln>
            <a:noFill/>
          </a:ln>
          <a:effectLst>
            <a:outerShdw blurRad="76200" dir="90000" dist="508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7" name="Picture 6" descr="764ac409-cbdf-431f-9589-d2cf0708818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3416300"/>
            <a:ext cx="3048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347200" y="3263900"/>
            <a:ext cx="59182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数据分析工具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47200" y="3721100"/>
            <a:ext cx="609600" cy="25400"/>
          </a:xfrm>
          <a:prstGeom prst="roundRect">
            <a:avLst>
              <a:gd name="adj" fmla="val 2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47200" y="3898900"/>
            <a:ext cx="59182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Python (9/10)与SQL精通级实现高效数据建模及查询优化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34400" y="4533900"/>
            <a:ext cx="609600" cy="609600"/>
          </a:xfrm>
          <a:prstGeom prst="roundRect">
            <a:avLst>
              <a:gd name="adj" fmla="val 16666"/>
            </a:avLst>
          </a:prstGeom>
          <a:solidFill>
            <a:srgbClr val="9333EA"/>
          </a:solidFill>
          <a:ln>
            <a:noFill/>
          </a:ln>
          <a:effectLst>
            <a:outerShdw blurRad="76200" dir="90000" dist="508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2" name="Picture 11" descr="764ac409-cbdf-431f-9589-d2cf0708818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4686300"/>
            <a:ext cx="304800" cy="30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347200" y="4533900"/>
            <a:ext cx="59182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平台系统能力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47200" y="4991100"/>
            <a:ext cx="609600" cy="25400"/>
          </a:xfrm>
          <a:prstGeom prst="roundRect">
            <a:avLst>
              <a:gd name="adj" fmla="val 2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47200" y="5168900"/>
            <a:ext cx="59182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Power BI/Tableau可视化构建，AWS云环境部署实践经验丰富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34400" y="5803900"/>
            <a:ext cx="609600" cy="609600"/>
          </a:xfrm>
          <a:prstGeom prst="roundRect">
            <a:avLst>
              <a:gd name="adj" fmla="val 16666"/>
            </a:avLst>
          </a:prstGeom>
          <a:solidFill>
            <a:srgbClr val="9333EA"/>
          </a:solidFill>
          <a:ln>
            <a:noFill/>
          </a:ln>
          <a:effectLst>
            <a:outerShdw blurRad="76200" dir="90000" dist="508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7" name="Picture 16" descr="764ac409-cbdf-431f-9589-d2cf0708818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5956300"/>
            <a:ext cx="304800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347200" y="5803900"/>
            <a:ext cx="59182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行业知识覆盖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47200" y="6261100"/>
            <a:ext cx="609600" cy="25400"/>
          </a:xfrm>
          <a:prstGeom prst="roundRect">
            <a:avLst>
              <a:gd name="adj" fmla="val 2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47200" y="6438900"/>
            <a:ext cx="59182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零售业模型贯穿6省全域数据驱动业务决策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34400" y="7073900"/>
            <a:ext cx="609600" cy="609600"/>
          </a:xfrm>
          <a:prstGeom prst="roundRect">
            <a:avLst>
              <a:gd name="adj" fmla="val 16666"/>
            </a:avLst>
          </a:prstGeom>
          <a:solidFill>
            <a:srgbClr val="9333EA"/>
          </a:solidFill>
          <a:ln>
            <a:noFill/>
          </a:ln>
          <a:effectLst>
            <a:outerShdw blurRad="76200" dir="90000" dist="508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22" name="Picture 21" descr="764ac409-cbdf-431f-9589-d2cf0708818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7226300"/>
            <a:ext cx="304800" cy="304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347200" y="7073900"/>
            <a:ext cx="59182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2000" b="1">
                <a:solidFill>
                  <a:srgbClr val="111827"/>
                </a:solidFill>
                <a:latin typeface="Inter"/>
              </a:defRPr>
            </a:pPr>
            <a:r>
              <a:rPr i="0" sz="2000" b="1">
                <a:solidFill>
                  <a:srgbClr val="111827"/>
                </a:solidFill>
                <a:latin typeface="Inter"/>
              </a:rPr>
              <a:t>协作效能提升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47200" y="7531100"/>
            <a:ext cx="609600" cy="25400"/>
          </a:xfrm>
          <a:prstGeom prst="roundRect">
            <a:avLst>
              <a:gd name="adj" fmla="val 20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47200" y="7708900"/>
            <a:ext cx="5918200" cy="33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i="0" sz="1600" b="0">
                <a:solidFill>
                  <a:srgbClr val="4B5563"/>
                </a:solidFill>
                <a:latin typeface="Inter"/>
              </a:defRPr>
            </a:pPr>
            <a:r>
              <a:rPr i="0" sz="1600" b="0">
                <a:solidFill>
                  <a:srgbClr val="4B5563"/>
                </a:solidFill>
                <a:latin typeface="Inter"/>
              </a:rPr>
              <a:t>跨部门流程标准化使工作效率显著提高30%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524000" y="3225800"/>
            <a:ext cx="5689600" cy="406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90500" dir="90000" dist="12700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98dcdf28-aa37-4b55-863d-92d8d99637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251200" cy="9144000"/>
          </a:xfrm>
          <a:prstGeom prst="rect">
            <a:avLst/>
          </a:prstGeom>
        </p:spPr>
      </p:pic>
      <p:pic>
        <p:nvPicPr>
          <p:cNvPr id="3" name="Picture 2" descr="98dcdf28-aa37-4b55-863d-92d8d996375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04800" y="0"/>
            <a:ext cx="3251200" cy="914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16000" y="2362200"/>
            <a:ext cx="142494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70000"/>
              </a:lnSpc>
              <a:defRPr i="0" sz="6000" b="1">
                <a:solidFill>
                  <a:srgbClr val="111827"/>
                </a:solidFill>
                <a:latin typeface="Inter"/>
              </a:defRPr>
            </a:pPr>
            <a:r>
              <a:rPr i="0" sz="6000" b="1">
                <a:solidFill>
                  <a:srgbClr val="111827"/>
                </a:solidFill>
                <a:latin typeface="Inter"/>
              </a:rPr>
              <a:t>成就亮点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0800" y="4597400"/>
            <a:ext cx="2667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400" b="0">
                <a:solidFill>
                  <a:srgbClr val="FFFFFF"/>
                </a:solidFill>
                <a:latin typeface="Inter"/>
              </a:defRPr>
            </a:pPr>
            <a:r>
              <a:rPr i="0" sz="1400" b="0">
                <a:solidFill>
                  <a:srgbClr val="FFFFFF"/>
                </a:solidFill>
                <a:latin typeface="Inter"/>
              </a:rPr>
              <a:t>用户留存率提升28%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02400" y="4673600"/>
            <a:ext cx="508000" cy="508000"/>
          </a:xfrm>
          <a:prstGeom prst="roundRect">
            <a:avLst>
              <a:gd name="adj" fmla="val 20000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4800" y="5308600"/>
            <a:ext cx="2159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400" b="0">
                <a:solidFill>
                  <a:srgbClr val="FFFFFF"/>
                </a:solidFill>
                <a:latin typeface="Inter"/>
              </a:defRPr>
            </a:pPr>
            <a:r>
              <a:rPr i="0" sz="1400" b="0">
                <a:solidFill>
                  <a:srgbClr val="FFFFFF"/>
                </a:solidFill>
                <a:latin typeface="Inter"/>
              </a:rPr>
              <a:t>通过建立精准客户画像系统实现运营效率跃升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0" y="4597400"/>
            <a:ext cx="24511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400" b="0">
                <a:solidFill>
                  <a:srgbClr val="FFFFFF"/>
                </a:solidFill>
                <a:latin typeface="Inter"/>
              </a:defRPr>
            </a:pPr>
            <a:r>
              <a:rPr i="0" sz="1400" b="0">
                <a:solidFill>
                  <a:srgbClr val="FFFFFF"/>
                </a:solidFill>
                <a:latin typeface="Inter"/>
              </a:rPr>
              <a:t>3篇SCI论文（IF＞15.6）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0000" y="5054600"/>
            <a:ext cx="2425700" cy="762000"/>
          </a:xfrm>
          <a:prstGeom prst="roundRect">
            <a:avLst>
              <a:gd name="adj" fmla="val 13333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34000" y="5308600"/>
            <a:ext cx="19431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400" b="0">
                <a:solidFill>
                  <a:srgbClr val="FFFFFF"/>
                </a:solidFill>
                <a:latin typeface="Inter"/>
              </a:defRPr>
            </a:pPr>
            <a:r>
              <a:rPr i="0" sz="1400" b="0">
                <a:solidFill>
                  <a:srgbClr val="FFFFFF"/>
                </a:solidFill>
                <a:latin typeface="Inter"/>
              </a:rPr>
              <a:t>在顶级期刊发表跨学科数据分析研究成果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1200" y="3733800"/>
            <a:ext cx="32766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400" b="0">
                <a:solidFill>
                  <a:srgbClr val="FFFFFF"/>
                </a:solidFill>
                <a:latin typeface="Inter"/>
              </a:defRPr>
            </a:pPr>
            <a:r>
              <a:rPr i="0" sz="1400" b="0">
                <a:solidFill>
                  <a:srgbClr val="FFFFFF"/>
                </a:solidFill>
                <a:latin typeface="Inter"/>
              </a:rPr>
              <a:t>千万级数据仓库项目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1200" y="4191000"/>
            <a:ext cx="32766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70000"/>
              </a:lnSpc>
              <a:defRPr i="0" sz="6000" b="1">
                <a:solidFill>
                  <a:srgbClr val="9333EA"/>
                </a:solidFill>
                <a:latin typeface="Inter"/>
              </a:defRPr>
            </a:pPr>
            <a:r>
              <a:rPr i="0" sz="6000" b="1">
                <a:solidFill>
                  <a:srgbClr val="9333EA"/>
                </a:solidFill>
                <a:latin typeface="Inter"/>
              </a:rPr>
              <a:t>「中国数据分析应用奖」提名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31200" y="5918200"/>
            <a:ext cx="3251200" cy="762000"/>
          </a:xfrm>
          <a:prstGeom prst="roundRect">
            <a:avLst>
              <a:gd name="adj" fmla="val 13333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85200" y="6172200"/>
            <a:ext cx="27686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400" b="0">
                <a:solidFill>
                  <a:srgbClr val="FFFFFF"/>
                </a:solidFill>
                <a:latin typeface="Inter"/>
              </a:defRPr>
            </a:pPr>
            <a:r>
              <a:rPr i="0" sz="1400" b="0">
                <a:solidFill>
                  <a:srgbClr val="FFFFFF"/>
                </a:solidFill>
                <a:latin typeface="Inter"/>
              </a:rPr>
              <a:t>主导的大型项目获国家级专业奖项认可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47600" y="4597400"/>
            <a:ext cx="21463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400" b="0">
                <a:solidFill>
                  <a:srgbClr val="FFFFFF"/>
                </a:solidFill>
                <a:latin typeface="Inter"/>
              </a:defRPr>
            </a:pPr>
            <a:r>
              <a:rPr i="0" sz="1400" b="0">
                <a:solidFill>
                  <a:srgbClr val="FFFFFF"/>
                </a:solidFill>
                <a:latin typeface="Inter"/>
              </a:rPr>
              <a:t>企业内训覆盖400+人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547600" y="5054600"/>
            <a:ext cx="2120900" cy="762000"/>
          </a:xfrm>
          <a:prstGeom prst="roundRect">
            <a:avLst>
              <a:gd name="adj" fmla="val 13333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0" y="5308600"/>
            <a:ext cx="16383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i="0" sz="1400" b="0">
                <a:solidFill>
                  <a:srgbClr val="FFFFFF"/>
                </a:solidFill>
                <a:latin typeface="Inter"/>
              </a:defRPr>
            </a:pPr>
            <a:r>
              <a:rPr i="0" sz="1400" b="0">
                <a:solidFill>
                  <a:srgbClr val="FFFFFF"/>
                </a:solidFill>
                <a:latin typeface="Inter"/>
              </a:rPr>
              <a:t>年均开展12场数据实战课程培训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