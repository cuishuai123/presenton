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展示个人核心信息及专业背景。姓名部分留空供填写，职业注明数据分析师且有8年行业经验。地理位置精确到海淀区，资质突出PMP认证显示项目管理能力。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该教育背景涵盖清华大学经管学院硕士学历，研究聚焦大数据商业应用。学术表现优异，GPA达到3.8位列前5%，显示出色的学习能力。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主导27项数据分析项目展现丰富实战经验，通过供应链模型实现显著成本优化。亲身培养6位分析师成为核心力量，连续三载获得创新奖项印证持续突破能力。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演示各能力维度的关键指标：1. Python/SQL的技术优势，2. 数据可视化与云端平台组合，3. 六省零售模型覆盖范围，4. 协作效能30%量化提升。通过工具专业化、系统整合力和业务深度实现综合竞争力构建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四大核心成就：客户画像系统提升留存率成效显著，科研成果获得学界认可，重大项目获行业权威奖项提名，内部人才培养计划覆盖超过400名员工。每个指标用具体数字强化说服力，突出专业能力和综合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f735a572-05da-430a-9b7b-10d5f25a1a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3368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3302000"/>
            <a:ext cx="6731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个人简介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3688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724400"/>
            <a:ext cx="67310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姓名：[您的姓名]\n职业领域：</a:t>
            </a:r>
            <a:r>
              <a:rPr i="0" sz="1800" b="1">
                <a:solidFill>
                  <a:srgbClr val="4B5563"/>
                </a:solidFill>
                <a:latin typeface="Inter"/>
              </a:rPr>
              <a:t>数据分析师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（深耕8年行业经验）\n现任地点：北京市海淀区\n核心资质：</a:t>
            </a:r>
            <a:r>
              <a:rPr i="0" sz="1800" b="1">
                <a:solidFill>
                  <a:srgbClr val="4B5563"/>
                </a:solidFill>
                <a:latin typeface="Inter"/>
              </a:rPr>
              <a:t>PMP认证项目经理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9779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教育背景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1574800"/>
            <a:ext cx="12192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4" name="Picture 3" descr="f6f65d95-3e4e-4a3c-9652-983b87d4c9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0" y="609600"/>
            <a:ext cx="40640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6000" y="3454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0100" y="3556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毕业院校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0100" y="4114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清华大学 经济管理学院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1200" y="3454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85300" y="3556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学历学位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85300" y="4114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硕士研究生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851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0100" y="4953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研究方向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0100" y="5511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大数据与商业决策分析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200" y="4851400"/>
            <a:ext cx="8763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5300" y="4953000"/>
            <a:ext cx="58801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学术表现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5300" y="5511800"/>
            <a:ext cx="58801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GPA 3.8/4.0（年级前5%）</a:t>
            </a:r>
          </a:p>
        </p:txBody>
      </p:sp>
      <p:pic>
        <p:nvPicPr>
          <p:cNvPr id="17" name="Picture 16" descr="53b6809f-7bd3-45c5-9312-92ff1ed317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280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03200"/>
            <a:ext cx="18161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111827"/>
                </a:solidFill>
                <a:latin typeface="Inter"/>
              </a:defRPr>
            </a:pPr>
            <a:r>
              <a:rPr i="0" sz="1600" b="1">
                <a:solidFill>
                  <a:srgbClr val="111827"/>
                </a:solidFill>
                <a:latin typeface="Inter"/>
              </a:rPr>
              <a:t>Company Name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09900" y="342900"/>
            <a:ext cx="12230100" cy="25400"/>
          </a:xfrm>
          <a:prstGeom prst="roundRect">
            <a:avLst>
              <a:gd name="adj" fmla="val 200000"/>
            </a:avLst>
          </a:prstGeom>
          <a:solidFill>
            <a:srgbClr val="111827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pic>
        <p:nvPicPr>
          <p:cNvPr id="4" name="Picture 3" descr="29ec4136-690e-4389-86a5-5f68279536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" cy="9144000"/>
          </a:xfrm>
          <a:prstGeom prst="rect">
            <a:avLst/>
          </a:prstGeom>
        </p:spPr>
      </p:pic>
      <p:pic>
        <p:nvPicPr>
          <p:cNvPr id="5" name="Picture 4" descr="b5ee59d9-5100-4081-a29e-e6a2f5e6a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8400"/>
            <a:ext cx="2438400" cy="162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6000" y="609600"/>
            <a:ext cx="8966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7200" b="1">
                <a:solidFill>
                  <a:srgbClr val="111827"/>
                </a:solidFill>
                <a:latin typeface="Inter"/>
              </a:defRPr>
            </a:pPr>
            <a:r>
              <a:rPr i="0" sz="7200" b="1">
                <a:solidFill>
                  <a:srgbClr val="111827"/>
                </a:solidFill>
                <a:latin typeface="Inter"/>
              </a:rPr>
              <a:t>职业里程碑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9200" y="4368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388b7e8b-fcab-489d-a4f1-ba09db0637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5212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32000" y="43688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主导27个数据分析项目并落地实施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42000" y="4368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1" name="Picture 10" descr="388b7e8b-fcab-489d-a4f1-ba09db0637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0" y="452120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4800" y="43688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供应链模型优化实现15%运营成本节约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19200" y="568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388b7e8b-fcab-489d-a4f1-ba09db0637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584200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32000" y="56896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培养6名分析师成长为团队核心成员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2000" y="568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388b7e8b-fcab-489d-a4f1-ba09db0637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0" y="58420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4800" y="5689600"/>
            <a:ext cx="3124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连续三年斩获'最佳创新贡献奖'</a:t>
            </a:r>
          </a:p>
        </p:txBody>
      </p:sp>
      <p:pic>
        <p:nvPicPr>
          <p:cNvPr id="19" name="Picture 18" descr="223d8aa7-5356-459c-bbe2-eb9aaf161b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27200" y="1016000"/>
            <a:ext cx="406400" cy="406400"/>
          </a:xfrm>
          <a:prstGeom prst="rect">
            <a:avLst/>
          </a:prstGeom>
        </p:spPr>
      </p:pic>
      <p:pic>
        <p:nvPicPr>
          <p:cNvPr id="20" name="Picture 19" descr="1ce9871a-f013-42cf-b5ad-0c7062f8e61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9600" y="1422400"/>
            <a:ext cx="1016000" cy="254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0363200" y="2641600"/>
            <a:ext cx="48768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dd0f483f-a1d2-46cc-be72-752e66c5159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3200" y="2641600"/>
            <a:ext cx="48768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142494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技能矩阵</a:t>
            </a:r>
          </a:p>
        </p:txBody>
      </p:sp>
      <p:pic>
        <p:nvPicPr>
          <p:cNvPr id="3" name="Picture 2" descr="6477d1e9-def5-49fb-bd80-29e851d404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778000"/>
            <a:ext cx="6705600" cy="6959600"/>
          </a:xfrm>
          <a:prstGeom prst="rect">
            <a:avLst/>
          </a:prstGeom>
        </p:spPr>
      </p:pic>
      <p:pic>
        <p:nvPicPr>
          <p:cNvPr id="4" name="Picture 3" descr="24e21aa4-fbd6-4509-8107-b8b301b87a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7940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34400" y="2476500"/>
            <a:ext cx="6731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专业能力结构化展示：涵盖数据分析工具、平台系统应用、行业模型覆盖及团队协作效能提升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400" y="326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388b7e8b-fcab-489d-a4f1-ba09db0637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41630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47200" y="326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数据分析工具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47200" y="372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200" y="389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Python (9/10)与SQL精通级实现高效数据建模及查询优化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34400" y="453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388b7e8b-fcab-489d-a4f1-ba09db0637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46863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47200" y="453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平台系统能力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7200" y="499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7200" y="516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Power BI/Tableau可视化构建，AWS云环境部署实践经验丰富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4400" y="580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388b7e8b-fcab-489d-a4f1-ba09db0637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59563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47200" y="580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行业知识覆盖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7200" y="626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200" y="643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零售业模型贯穿6省全域数据驱动业务决策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34400" y="707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388b7e8b-fcab-489d-a4f1-ba09db0637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7226300"/>
            <a:ext cx="3048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47200" y="7073900"/>
            <a:ext cx="5918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协作效能提升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7200" y="753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7200" y="7708900"/>
            <a:ext cx="59182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跨部门流程标准化使工作效率显著提高30%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24000" y="3225800"/>
            <a:ext cx="56896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6f244b2a-b711-44bc-a177-89bb1d7090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3225800"/>
            <a:ext cx="56896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69397da5-d0fc-4bb0-b8aa-59da7527f4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51200" cy="9144000"/>
          </a:xfrm>
          <a:prstGeom prst="rect">
            <a:avLst/>
          </a:prstGeom>
        </p:spPr>
      </p:pic>
      <p:pic>
        <p:nvPicPr>
          <p:cNvPr id="3" name="Picture 2" descr="69397da5-d0fc-4bb0-b8aa-59da7527f4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800" y="0"/>
            <a:ext cx="3251200" cy="914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2362200"/>
            <a:ext cx="142494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成就亮点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" y="4597400"/>
            <a:ext cx="2667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用户留存率提升28%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0800" y="5054600"/>
            <a:ext cx="26416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4800" y="5308600"/>
            <a:ext cx="2159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通过建立精准客户画像系统实现运营效率跃升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0" y="4597400"/>
            <a:ext cx="2451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3篇SCI论文（IF＞15.6）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0000" y="5054600"/>
            <a:ext cx="24257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0" y="5308600"/>
            <a:ext cx="19431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在顶级期刊发表跨学科数据分析研究成果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1200" y="3733800"/>
            <a:ext cx="3276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千万级数据仓库项目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1200" y="4191000"/>
            <a:ext cx="32766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「中国数据分析应用奖」提名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1200" y="5918200"/>
            <a:ext cx="32512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85200" y="6172200"/>
            <a:ext cx="2768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主导的大型项目获国家级专业奖项认可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47600" y="4597400"/>
            <a:ext cx="21463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企业内训覆盖400+人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47600" y="5054600"/>
            <a:ext cx="21209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0" y="5308600"/>
            <a:ext cx="16383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年均开展12场数据实战课程培训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